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017"/>
                </a:solidFill>
              </a:defRPr>
            </a:pPr>
            <a:r>
              <a:t>MAKERERE UNIVERSITY — BSE4104 CAPSTONE</a:t>
            </a:r>
          </a:p>
          <a:p>
            <a:pPr>
              <a:defRPr sz="3800" b="1">
                <a:solidFill>
                  <a:srgbClr val="FFFFFF"/>
                </a:solidFill>
              </a:defRPr>
            </a:pPr>
            <a:r>
              <a:t>SACCO Member-Case Preparation Agent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A Bounded Agentic System for Responsible Financial Inclusion</a:t>
            </a:r>
          </a:p>
          <a:p>
            <a:br/>
            <a:pPr>
              <a:defRPr sz="1200">
                <a:solidFill>
                  <a:srgbClr val="D4A017"/>
                </a:solidFill>
              </a:defRPr>
            </a:pPr>
            <a:r>
              <a:t>Group I Evening: Kisomose Arnold Patrick (Lead) | Hannington Wandera | Kukiriza Sinai | Kabalebe Joshua | Mugisha Modern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017"/>
                </a:solidFill>
              </a:defRPr>
            </a:pPr>
            <a:r>
              <a:t>BSE4104 CAPSTONE — GROUP I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2542"/>
                </a:solidFill>
              </a:defRPr>
            </a:pPr>
            <a:r>
              <a:t>The Problem: SACCO Loan Origination Bottlenecks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300">
                <a:solidFill>
                  <a:srgbClr val="102542"/>
                </a:solidFill>
              </a:defRPr>
            </a:pPr>
            <a:r>
              <a:t>•  The Core Problem in Tier-4 SACCOs: </a:t>
            </a:r>
            <a:r>
              <a:rPr b="0" sz="1200">
                <a:solidFill>
                  <a:srgbClr val="1E293B"/>
                </a:solidFill>
              </a:rPr>
              <a:t>Prospective borrowers struggle to understand fragmented bylaws, eligibility requirements, and repayment math. Officers spend &gt;40% of their operational hours triaging incomplete loan inquiries.</a:t>
            </a:r>
          </a:p>
          <a:p/>
          <a:p>
            <a:pPr>
              <a:defRPr b="1" sz="1300">
                <a:solidFill>
                  <a:srgbClr val="102542"/>
                </a:solidFill>
              </a:defRPr>
            </a:pPr>
            <a:r>
              <a:t>•  Why Conventional Software Fails: </a:t>
            </a:r>
            <a:r>
              <a:rPr b="0" sz="1200">
                <a:solidFill>
                  <a:srgbClr val="1E293B"/>
                </a:solidFill>
              </a:rPr>
              <a:t>Standard CRUD forms require borrowers to already know the exact product and limits. Inquiries are expressed in conversational, ambiguous language with missing parameters.</a:t>
            </a:r>
          </a:p>
          <a:p/>
          <a:p>
            <a:pPr>
              <a:defRPr b="1" sz="1300">
                <a:solidFill>
                  <a:srgbClr val="102542"/>
                </a:solidFill>
              </a:defRPr>
            </a:pPr>
            <a:r>
              <a:t>•  Why an Agent is Justified: </a:t>
            </a:r>
            <a:r>
              <a:rPr b="0" sz="1200">
                <a:solidFill>
                  <a:srgbClr val="1E293B"/>
                </a:solidFill>
              </a:rPr>
              <a:t>Dynamic multi-step workflows: verifying standing -&gt; retrieving matching bylaws -&gt; computing illustrative schedules -&gt; compiling officer review packets.</a:t>
            </a:r>
          </a:p>
          <a:p/>
          <a:p>
            <a:pPr>
              <a:defRPr b="1" sz="1300">
                <a:solidFill>
                  <a:srgbClr val="102542"/>
                </a:solidFill>
              </a:defRPr>
            </a:pPr>
            <a:r>
              <a:t>•  The Absolute Safety Boundary: </a:t>
            </a:r>
            <a:r>
              <a:rPr b="0" sz="1200">
                <a:solidFill>
                  <a:srgbClr val="1E293B"/>
                </a:solidFill>
              </a:rPr>
              <a:t>Autonomous lending is catastrophic for solvency. The system is strictly ADVISORY: no autonomous loan approvals, no rejections, no fund disbursement, and no account modification.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017"/>
                </a:solidFill>
              </a:defRPr>
            </a:pPr>
            <a:r>
              <a:t>BSE4104 CAPSTONE — GROUP I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2542"/>
                </a:solidFill>
              </a:defRPr>
            </a:pPr>
            <a:r>
              <a:t>Safety Demarcation: The AI Boundary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B559B"/>
                </a:solidFill>
              </a:defRPr>
            </a:pPr>
            <a:r>
              <a:t>Capability                       | Deterministic Software | AI Model (Gemini)      | Human SACCO Officer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 Loan Approval or Rejection Decision:</a:t>
            </a:r>
            <a:br/>
            <a:r>
              <a:t>    - System: STRICTLY BLOCKED by Software</a:t>
            </a:r>
            <a:br/>
            <a:r>
              <a:t>    - Model: STRICTLY PROHIBITED in Output</a:t>
            </a:r>
            <a:br/>
            <a:r>
              <a:t>    - Human: EXCLUSIVE AUTHORITY of Credit Committee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 Fund Disbursement / Money Transfer:</a:t>
            </a:r>
            <a:br/>
            <a:r>
              <a:t>    - System: STRICTLY BLOCKED (No tool exists)</a:t>
            </a:r>
            <a:br/>
            <a:r>
              <a:t>    - Model: STRICTLY PROHIBITED in Output</a:t>
            </a:r>
            <a:br/>
            <a:r>
              <a:t>    - Human: EXCLUSIVE AUTHORITY of SACCO Finance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 Account Balance Modification:</a:t>
            </a:r>
            <a:br/>
            <a:r>
              <a:t>    - System: STRICTLY BLOCKED by Storage Layer</a:t>
            </a:r>
            <a:br/>
            <a:r>
              <a:t>    - Model: STRICTLY PROHIBITED in Output</a:t>
            </a:r>
            <a:br/>
            <a:r>
              <a:t>    - Human: EXCLUSIVE AUTHORITY of SACCO Operations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 Member Standing Verification:</a:t>
            </a:r>
            <a:br/>
            <a:r>
              <a:t>    - System: Deterministic RBAC enforced</a:t>
            </a:r>
            <a:br/>
            <a:r>
              <a:t>    - Model: Summarizes active standing</a:t>
            </a:r>
            <a:br/>
            <a:r>
              <a:t>    - Human: Approves standing exceptions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 Amortization Schedule Modeling:</a:t>
            </a:r>
            <a:br/>
            <a:r>
              <a:t>    - System: Accurate math formula execution</a:t>
            </a:r>
            <a:br/>
            <a:r>
              <a:t>    - Model: Explains schedule to member</a:t>
            </a:r>
            <a:br/>
            <a:r>
              <a:t>    - Human: Approves binding legal terms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 Case Preparation &amp; Triage:</a:t>
            </a:r>
            <a:br/>
            <a:r>
              <a:t>    - System: Packages structured brief &amp; trace</a:t>
            </a:r>
            <a:br/>
            <a:r>
              <a:t>    - Model: Synthesizes missing items</a:t>
            </a:r>
            <a:br/>
            <a:r>
              <a:t>    - Human: Conducts formal credit underwriting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017"/>
                </a:solidFill>
              </a:defRPr>
            </a:pPr>
            <a:r>
              <a:t>BSE4104 CAPSTONE — GROUP I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2542"/>
                </a:solidFill>
              </a:defRPr>
            </a:pPr>
            <a:r>
              <a:t>System Architecture: The Deterministic Sandwich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200">
                <a:solidFill>
                  <a:srgbClr val="102542"/>
                </a:solidFill>
              </a:defRPr>
            </a:pPr>
            <a:r>
              <a:t>•  1. Preflight Guardrail Layer (guardrails.py): </a:t>
            </a:r>
            <a:r>
              <a:rPr b="0" sz="1100">
                <a:solidFill>
                  <a:srgbClr val="1E293B"/>
                </a:solidFill>
              </a:rPr>
              <a:t>Validates input type, length, and non-empty strings. Multi-category regex intercepts loan approval, disbursement, and prompt injection attempts at iteration 0 before calling Gemini.</a:t>
            </a:r>
          </a:p>
          <a:p>
            <a:pPr>
              <a:defRPr b="1" sz="1200">
                <a:solidFill>
                  <a:srgbClr val="102542"/>
                </a:solidFill>
              </a:defRPr>
            </a:pPr>
            <a:r>
              <a:t>•  2. Reasoning &amp; Planning Engine (Gemini 3.6 Flash): </a:t>
            </a:r>
            <a:r>
              <a:rPr b="0" sz="1100">
                <a:solidFill>
                  <a:srgbClr val="1E293B"/>
                </a:solidFill>
              </a:rPr>
              <a:t>Selected for stability over transient 503 errors in 3.7/3.8. Employs versioned System Prompt v1.2 with strict negative constraints and compact state tracking.</a:t>
            </a:r>
          </a:p>
          <a:p>
            <a:pPr>
              <a:defRPr b="1" sz="1200">
                <a:solidFill>
                  <a:srgbClr val="102542"/>
                </a:solidFill>
              </a:defRPr>
            </a:pPr>
            <a:r>
              <a:t>•  3. Bounded Agentic Orchestrator (loop_with_memory.py): </a:t>
            </a:r>
            <a:r>
              <a:rPr b="0" sz="1100">
                <a:solidFill>
                  <a:srgbClr val="1E293B"/>
                </a:solidFill>
              </a:rPr>
              <a:t>Plan-Act-Observe cycle enforcing hard architectural limits: MAX_ITERATIONS = 6 and MAX_CALLS_PER_TOOL = 2. Fault-tolerant _call_model_safely with secret redaction.</a:t>
            </a:r>
          </a:p>
          <a:p>
            <a:pPr>
              <a:defRPr b="1" sz="1200">
                <a:solidFill>
                  <a:srgbClr val="102542"/>
                </a:solidFill>
              </a:defRPr>
            </a:pPr>
            <a:r>
              <a:t>•  4. Sandboxed Tool Execution (tools.py): </a:t>
            </a:r>
            <a:r>
              <a:rPr b="0" sz="1100">
                <a:solidFill>
                  <a:srgbClr val="1E293B"/>
                </a:solidFill>
              </a:rPr>
              <a:t>Approved allow-list: get_member_record (RBAC), retrieve_policy (TF-IDF RAG), calculate_repayment (Reducing balance math with strict boolean type checking).</a:t>
            </a:r>
          </a:p>
          <a:p>
            <a:pPr>
              <a:defRPr b="1" sz="1200">
                <a:solidFill>
                  <a:srgbClr val="102542"/>
                </a:solidFill>
              </a:defRPr>
            </a:pPr>
            <a:r>
              <a:t>•  5. State &amp; Memory Management (memory.py): </a:t>
            </a:r>
            <a:r>
              <a:rPr b="0" sz="1100">
                <a:solidFill>
                  <a:srgbClr val="1E293B"/>
                </a:solidFill>
              </a:rPr>
              <a:t>CaseMemoryStore ensures owner-only isolation and data minimization (no raw PII stored).</a:t>
            </a:r>
          </a:p>
          <a:p>
            <a:pPr>
              <a:defRPr b="1" sz="1200">
                <a:solidFill>
                  <a:srgbClr val="102542"/>
                </a:solidFill>
              </a:defRPr>
            </a:pPr>
            <a:r>
              <a:t>•  6. Postflight Output Guardrails (guardrails.py): </a:t>
            </a:r>
            <a:r>
              <a:rPr b="0" sz="1100">
                <a:solidFill>
                  <a:srgbClr val="1E293B"/>
                </a:solidFill>
              </a:rPr>
              <a:t>Regex scan detects rogue autonomous decision assertions before returning case summary.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017"/>
                </a:solidFill>
              </a:defRPr>
            </a:pPr>
            <a:r>
              <a:t>BSE4104 CAPSTONE — GROUP I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2542"/>
                </a:solidFill>
              </a:defRPr>
            </a:pPr>
            <a:r>
              <a:t>Context Engineering &amp; RAG: 22 Policy Bylaws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300">
                <a:solidFill>
                  <a:srgbClr val="102542"/>
                </a:solidFill>
              </a:defRPr>
            </a:pPr>
            <a:r>
              <a:t>•  Curated Policy Corpus (Knowledge/): </a:t>
            </a:r>
            <a:r>
              <a:rPr b="0" sz="1200">
                <a:solidFill>
                  <a:srgbClr val="1E293B"/>
                </a:solidFill>
              </a:rPr>
              <a:t>22 official Markdown documents covering Development Loans, Emergency Loans, School Fees Loans, Guarantors, Defaults, and Governance.</a:t>
            </a:r>
          </a:p>
          <a:p/>
          <a:p>
            <a:pPr>
              <a:defRPr b="1" sz="1300">
                <a:solidFill>
                  <a:srgbClr val="102542"/>
                </a:solidFill>
              </a:defRPr>
            </a:pPr>
            <a:r>
              <a:t>•  Deterministic In-Memory Retrieval: </a:t>
            </a:r>
            <a:r>
              <a:rPr b="0" sz="1200">
                <a:solidFill>
                  <a:srgbClr val="1E293B"/>
                </a:solidFill>
              </a:rPr>
              <a:t>TF-IDF term overlap and cosine similarity indexing with confidence threshold MIN_CONFIDENCE = 0.55. Zero external vector database hosting overhead.</a:t>
            </a:r>
          </a:p>
          <a:p/>
          <a:p>
            <a:pPr>
              <a:defRPr b="1" sz="1300">
                <a:solidFill>
                  <a:srgbClr val="102542"/>
                </a:solidFill>
              </a:defRPr>
            </a:pPr>
            <a:r>
              <a:t>•  Source Grounding &amp; Evidence Citations: </a:t>
            </a:r>
            <a:r>
              <a:rPr b="0" sz="1200">
                <a:solidFill>
                  <a:srgbClr val="1E293B"/>
                </a:solidFill>
              </a:rPr>
              <a:t>Retrieved chunks are injected inside explicit boundary markers. Model must cite exact policy filenames (e.g., [Source: development_loan.md]).</a:t>
            </a:r>
          </a:p>
          <a:p/>
          <a:p>
            <a:pPr>
              <a:defRPr b="1" sz="1300">
                <a:solidFill>
                  <a:srgbClr val="102542"/>
                </a:solidFill>
              </a:defRPr>
            </a:pPr>
            <a:r>
              <a:t>•  Unanswerable Query Defense: </a:t>
            </a:r>
            <a:r>
              <a:rPr b="0" sz="1200">
                <a:solidFill>
                  <a:srgbClr val="1E293B"/>
                </a:solidFill>
              </a:rPr>
              <a:t>Queries concerning cryptocurrency, foreign currency wire transfers, or automated credit scoring score below 0.15 confidence and trigger self-reported knowledge gaps.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017"/>
                </a:solidFill>
              </a:defRPr>
            </a:pPr>
            <a:r>
              <a:t>BSE4104 CAPSTONE — GROUP I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2542"/>
                </a:solidFill>
              </a:defRPr>
            </a:pPr>
            <a:r>
              <a:t>Bounded Agency &amp; Failure Catalogue (F-01 to F-08)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1E293B"/>
                </a:solidFill>
              </a:defRPr>
            </a:pPr>
            <a:r>
              <a:t>•  FAIL-01 (Empty Request Crash): Unhandled ValueError on empty string -&gt; Resolved by preflight validate_input_request.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 FAIL-02 (PII Name Leakage): Member name Carol Atim leaked 8x in traces -&gt; Resolved by mask_name (C***l A**m).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 FAIL-03 (Guardrail Phrase Bypass): Phrases like disburse funds bypassed tuple -&gt; Resolved by multi-category regex engine.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 FAIL-04 (Rogue Approval Output): Model output asserting approval accepted -&gt; Intercepted by validate_agent_output.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 FAIL-05 (Boolean Type Confusion): isinstance(True, int) returned UGX 1.0 loan -&gt; Blocked by strict isinstance(val, bool) check.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 FAIL-06 (Memory Fixture Deletion): Week 6 demo deleted primary case -&gt; Fixed with dedicated secondary test fixture.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 FAIL-07 (Unknown Tool Metadata): Unknown tool marked executed: True -&gt; Fixed by returning executed: False in agent_tools.py.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 FAIL-08 (Model Outage Secret Leak): HTTP 503 error leaked API key in URL -&gt; Trapped by _call_model_safely with regex key redaction.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017"/>
                </a:solidFill>
              </a:defRPr>
            </a:pPr>
            <a:r>
              <a:t>BSE4104 CAPSTONE — GROUP I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2542"/>
                </a:solidFill>
              </a:defRPr>
            </a:pPr>
            <a:r>
              <a:t>Rigorous Evaluation: 36 Scenarios &amp; 49 Unit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B559B"/>
                </a:solidFill>
              </a:defRPr>
            </a:pPr>
            <a:r>
              <a:t>36-SCENARIO EVALUATION DATASET METRICS (scenarios.json):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 Total Scenarios Tested: 100% PASS (36 / 36) (36 distinct executable scenarios (6 per category across 6 categories))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 Safety Violation Rate: 0.0% (Zero violations) (Target: 0.0% unintercepted breaches)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 Execution Latency: PASSED (Sub-60ms) (Mean: 17.5 ms | p95: 52.0 ms (Target: &lt;= 3000 ms))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 Stop Reason Accuracy: 100.0% (36 / 36) (Target: &gt;= 95.0% correct terminal reason)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 Tool Policy Adherence: 100.0% Compliance (Target: 100.0% allow-list compliance)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 Automated Test Suites: 100% PASS (49 / 49 in 1.07s) (49 unit &amp; integration tests across 5 canonical suites)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017"/>
                </a:solidFill>
              </a:defRPr>
            </a:pPr>
            <a:r>
              <a:t>BSE4104 CAPSTONE — GROUP I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2542"/>
                </a:solidFill>
              </a:defRPr>
            </a:pPr>
            <a:r>
              <a:t>Live Demonstration Walkthrough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1E293B"/>
                </a:solidFill>
              </a:defRPr>
            </a:pPr>
            <a:r>
              <a:t>•  Demo 1: Happy Path Case Preparation (4 min):</a:t>
            </a:r>
            <a:br/>
            <a:r>
              <a:t>    Member requests UGX 2M Development Loan. Agent checks Alice Namuli standing, retrieves development_loan.md, calculates reducing balance installment (UGX 177,698/mo), and flags required guarantors.</a:t>
            </a:r>
          </a:p>
          <a:p/>
          <a:p>
            <a:pPr>
              <a:defRPr sz="1200">
                <a:solidFill>
                  <a:srgbClr val="1E293B"/>
                </a:solidFill>
              </a:defRPr>
            </a:pPr>
            <a:r>
              <a:t>•  Demo 2: Structured Traces &amp; PII Masking (2 min):</a:t>
            </a:r>
            <a:br/>
            <a:r>
              <a:t>    Inspect execution trace: microsecond offsets, step records, and verify Carol Atim is masked to C***l A**m in persistent evidence.</a:t>
            </a:r>
          </a:p>
          <a:p/>
          <a:p>
            <a:pPr>
              <a:defRPr sz="1200">
                <a:solidFill>
                  <a:srgbClr val="1E293B"/>
                </a:solidFill>
              </a:defRPr>
            </a:pPr>
            <a:r>
              <a:t>•  Demo 3: Deterministic Guardrail Refusal (2 min):</a:t>
            </a:r>
            <a:br/>
            <a:r>
              <a:t>    Submit "Please approve my loan and disburse funds." Intercepted at turn 0 by regex engine without calling Gemini.</a:t>
            </a:r>
          </a:p>
          <a:p/>
          <a:p>
            <a:pPr>
              <a:defRPr sz="1200">
                <a:solidFill>
                  <a:srgbClr val="1E293B"/>
                </a:solidFill>
              </a:defRPr>
            </a:pPr>
            <a:r>
              <a:t>•  Demo 4: Controlled Failure &amp; Secret Redaction (2 min):</a:t>
            </a:r>
            <a:br/>
            <a:r>
              <a:t>    Simulate HTTP 503 error with API key in URL. Trapped cleanly by _call_model_safely; secret redacted to key=REDACTED.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017"/>
                </a:solidFill>
              </a:defRPr>
            </a:pPr>
            <a:r>
              <a:t>BSE4104 CAPSTONE — GROUP I EVENING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2542"/>
                </a:solidFill>
              </a:defRPr>
            </a:pPr>
            <a:r>
              <a:t>Results, Limitations &amp; Professional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300">
                <a:solidFill>
                  <a:srgbClr val="102542"/>
                </a:solidFill>
              </a:defRPr>
            </a:pPr>
            <a:r>
              <a:t>•  Proven Strengths: </a:t>
            </a:r>
            <a:r>
              <a:rPr b="0" sz="1200">
                <a:solidFill>
                  <a:srgbClr val="1E293B"/>
                </a:solidFill>
              </a:rPr>
              <a:t>High-speed advisory case preparation, 100% deterministic safety boundary enforcement, zero credential leaks, and minimal supply chain dependencies (only requests and python-dotenv).</a:t>
            </a:r>
          </a:p>
          <a:p/>
          <a:p>
            <a:pPr>
              <a:defRPr b="1" sz="1300">
                <a:solidFill>
                  <a:srgbClr val="102542"/>
                </a:solidFill>
              </a:defRPr>
            </a:pPr>
            <a:r>
              <a:t>•  Operational Limitations: </a:t>
            </a:r>
            <a:r>
              <a:rPr b="0" sz="1200">
                <a:solidFill>
                  <a:srgbClr val="1E293B"/>
                </a:solidFill>
              </a:rPr>
              <a:t>Regex guardrails require ongoing updates against novel multilingual evasion; the agent cannot evaluate subjective credit character; live mode requires external API connectivity.</a:t>
            </a:r>
          </a:p>
          <a:p/>
          <a:p>
            <a:pPr>
              <a:defRPr b="1" sz="1300">
                <a:solidFill>
                  <a:srgbClr val="102542"/>
                </a:solidFill>
              </a:defRPr>
            </a:pPr>
            <a:r>
              <a:t>•  Beyond Vibe Coding: </a:t>
            </a:r>
            <a:r>
              <a:rPr b="0" sz="1200">
                <a:solidFill>
                  <a:srgbClr val="1E293B"/>
                </a:solidFill>
              </a:rPr>
              <a:t>Prompts are probabilistic; safety must be enforced by deterministic code. Rigorous test-driven engineering, failure catalogues, and observability turn LLM prototypes into enterprise-grade software.</a:t>
            </a:r>
          </a:p>
          <a:p/>
          <a:p>
            <a:pPr>
              <a:defRPr b="1" sz="1300">
                <a:solidFill>
                  <a:srgbClr val="102542"/>
                </a:solidFill>
              </a:defRPr>
            </a:pPr>
            <a:r>
              <a:t>•  Human Centricity: </a:t>
            </a:r>
            <a:r>
              <a:rPr b="0" sz="1200">
                <a:solidFill>
                  <a:srgbClr val="1E293B"/>
                </a:solidFill>
              </a:rPr>
              <a:t>AI handles administrative data collection and policy synthesis; human Relationship Officers retain complete, sovereign control over credit decisions.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017"/>
                </a:solidFill>
              </a:defRPr>
            </a:pPr>
            <a:r>
              <a:t>BSE4104 CAPSTONE DEFENSE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Thank You. We Welcome Your Questions.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Artifacts Ready for Inspection:</a:t>
            </a:r>
            <a:br/>
            <a:r>
              <a:t>• Source Code: src/agent/ (loop_with_memory.py, guardrails.py, tools.py, observability.py)</a:t>
            </a:r>
            <a:br/>
            <a:r>
              <a:t>• Final Engineering Report: docs/week8/final-engineering-report.md (10.0 Pages)</a:t>
            </a:r>
            <a:br/>
            <a:r>
              <a:t>• Verification Suites: 49 Unit Tests (100% PASS) | 36 Evaluation Scenarios (100% PASS)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